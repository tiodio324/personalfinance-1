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itter Medium" panose="020B0604020202020204" charset="-5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2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433042"/>
            <a:ext cx="2470309" cy="426244"/>
          </a:xfrm>
          <a:prstGeom prst="roundRect">
            <a:avLst>
              <a:gd name="adj" fmla="val 17880"/>
            </a:avLst>
          </a:prstGeom>
          <a:solidFill>
            <a:srgbClr val="FCE2C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6278" y="2555438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88455" y="2501027"/>
            <a:ext cx="19259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ru-RU" sz="140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ВКР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280190" y="29500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Система учёта личных финансов с аналитикой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6280190" y="470773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Веб-приложение для автоматизации учёта доходов и расходов с возможностью планирования бюджета и глубокого анализа финансовых потоков</a:t>
            </a:r>
            <a:endParaRPr lang="en-US" sz="1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0421D7-9653-478E-B194-8055CE61BB28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130" y="530066"/>
            <a:ext cx="5419487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Цели и задачи проекта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33130" y="1611630"/>
            <a:ext cx="2884646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Основная цель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33130" y="2164437"/>
            <a:ext cx="5847398" cy="1230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современного Single Page Application для автоматизации учёта личных финансов, обеспечивающего быструю навигацию без перезагрузки страницы и удобный анализ финансовых данных.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3130" y="3587353"/>
            <a:ext cx="2884646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Ключевые задачи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33130" y="4140160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интуитивного интерфейса учёта транзакций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3130" y="4515088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Реализация системы планирования бюджета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3130" y="4890016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Построение аналитических отчётов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3130" y="5264944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Внедрение гибкой системы ролей доступа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254" y="1635681"/>
            <a:ext cx="5847398" cy="5847398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1BAC6C7-83BE-4765-9E92-98C67254262F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43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191" y="3521393"/>
            <a:ext cx="6072426" cy="68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Технологический стек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8191" y="4536519"/>
            <a:ext cx="4218384" cy="2915364"/>
          </a:xfrm>
          <a:prstGeom prst="roundRect">
            <a:avLst>
              <a:gd name="adj" fmla="val 316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5243" y="4763572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Frontend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95243" y="5238274"/>
            <a:ext cx="3764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19.2.0 — основа UI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95243" y="5666303"/>
            <a:ext cx="3764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TypeScript 5.9.3 — типизация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95243" y="6094333"/>
            <a:ext cx="3764280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MobX 6.15.0 — управление состоянием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5243" y="6873597"/>
            <a:ext cx="3764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SCSS/SASS 1.97.1 — стилизация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06008" y="4536519"/>
            <a:ext cx="4218384" cy="2915364"/>
          </a:xfrm>
          <a:prstGeom prst="roundRect">
            <a:avLst>
              <a:gd name="adj" fmla="val 316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33060" y="4763572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Инструменты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5433060" y="5238274"/>
            <a:ext cx="3764280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Vite (rolldown) 7.3.0 — быстрая сборка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33060" y="6017538"/>
            <a:ext cx="3764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ESLint — контроль качества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33060" y="6445567"/>
            <a:ext cx="3764280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TypeScript ESLint — проверка типов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643824" y="4536519"/>
            <a:ext cx="4218384" cy="2915364"/>
          </a:xfrm>
          <a:prstGeom prst="roundRect">
            <a:avLst>
              <a:gd name="adj" fmla="val 316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0877" y="4763572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Backend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9870877" y="5238274"/>
            <a:ext cx="3764280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12.7.0 — облачная база данных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870877" y="6017538"/>
            <a:ext cx="3764280" cy="105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Realtime Database — синхронизация в реальном времени</a:t>
            </a:r>
            <a:endParaRPr lang="en-US" sz="17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457601B-4CD6-4C65-8101-E23115E24C91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6430" y="543044"/>
            <a:ext cx="5485567" cy="533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Архитектура приложения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916430" y="1524595"/>
            <a:ext cx="170617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16430" y="1791772"/>
            <a:ext cx="3070622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1916430" y="1922740"/>
            <a:ext cx="28682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Компоненты (components/)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916430" y="2360057"/>
            <a:ext cx="3070622" cy="81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Переиспользуемые UI элементы: базовые компоненты, макет приложения, модальные окна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57668" y="1524595"/>
            <a:ext cx="170617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57668" y="1791772"/>
            <a:ext cx="3070622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5157668" y="1922740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Страницы (pages/)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57668" y="2360057"/>
            <a:ext cx="3070622" cy="81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страница, транзакции, счета, бюджеты, администрирование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16430" y="3478054"/>
            <a:ext cx="170617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16430" y="3745230"/>
            <a:ext cx="3070622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916430" y="3876199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Хранилище (store/)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916430" y="4313515"/>
            <a:ext cx="3070622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MobX stores для авторизации, данных, навигации и UI состояния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57668" y="3478054"/>
            <a:ext cx="170617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57668" y="3745230"/>
            <a:ext cx="3070622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5157668" y="3876199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Типы (types/)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157668" y="4313515"/>
            <a:ext cx="3070622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TypeScript интерфейсы для всех сущностей системы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16430" y="5158383"/>
            <a:ext cx="170617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16430" y="5425559"/>
            <a:ext cx="6311860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21" name="Text 19"/>
          <p:cNvSpPr/>
          <p:nvPr/>
        </p:nvSpPr>
        <p:spPr>
          <a:xfrm>
            <a:off x="1916430" y="5556528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Стили (styles/)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916430" y="5993844"/>
            <a:ext cx="631186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Глобальные стили, переменные, миксины и цветовая палитра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52391" y="1524595"/>
            <a:ext cx="4069080" cy="1708785"/>
          </a:xfrm>
          <a:prstGeom prst="roundRect">
            <a:avLst>
              <a:gd name="adj" fmla="val 4196"/>
            </a:avLst>
          </a:prstGeom>
          <a:solidFill>
            <a:srgbClr val="FAD3B8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008" y="1756886"/>
            <a:ext cx="266700" cy="2133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260324" y="1737836"/>
            <a:ext cx="30066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Преимущества архитектуры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9260324" y="2175153"/>
            <a:ext cx="3290530" cy="81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Модульная структура обеспечивает лёгкость поддержки и масштабирования проекта</a:t>
            </a:r>
            <a:endParaRPr lang="en-US" sz="13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391" y="3425428"/>
            <a:ext cx="4069080" cy="4069080"/>
          </a:xfrm>
          <a:prstGeom prst="rect">
            <a:avLst/>
          </a:prstGeom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6899808-1654-4149-9DD6-46CB24822963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2423"/>
            <a:ext cx="84542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Система ролей и прав доступа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33951" y="3362087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3135213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930" y="3305354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42529"/>
            <a:ext cx="30389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Viewer (Наблюдатель)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532948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Роль по умолчанию для неавторизованных пользователей. Доступен только просмотр транзакций, счетов и бюджетов без возможности редактирования данных.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7123" y="3021806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16962" y="2794933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7102" y="2965073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702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(Пользователь)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192667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Требует авторизацию. Полное управление личными финансами: создание и редактирование транзакций, счетов и бюджетов. Планирование расходов.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980295" y="2681645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40133" y="2454771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0274" y="2624911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362087"/>
            <a:ext cx="33693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Admin (Администратор)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852505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Максимальные права. Управление категориями, полный доступ ко всем данным системы, специальный раздел администрирования с расширенной аналитикой.</a:t>
            </a:r>
            <a:endParaRPr lang="en-US" sz="17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5ACDD91-B321-400F-86A9-5CD63E58468F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8015" y="1155144"/>
            <a:ext cx="6083379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Функциональные возможности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28015" y="1870710"/>
            <a:ext cx="8060769" cy="1184910"/>
          </a:xfrm>
          <a:prstGeom prst="roundRect">
            <a:avLst>
              <a:gd name="adj" fmla="val 5485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0875" y="1893570"/>
            <a:ext cx="619006" cy="1139190"/>
          </a:xfrm>
          <a:prstGeom prst="roundRect">
            <a:avLst>
              <a:gd name="adj" fmla="val 6068"/>
            </a:avLst>
          </a:prstGeom>
          <a:solidFill>
            <a:srgbClr val="FCE2CF"/>
          </a:solidFill>
          <a:ln/>
        </p:spPr>
      </p:sp>
      <p:sp>
        <p:nvSpPr>
          <p:cNvPr id="6" name="Text 3"/>
          <p:cNvSpPr/>
          <p:nvPr/>
        </p:nvSpPr>
        <p:spPr>
          <a:xfrm>
            <a:off x="6240542" y="2318028"/>
            <a:ext cx="23205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24543" y="2048232"/>
            <a:ext cx="2610922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Управление транзакциями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24543" y="2382798"/>
            <a:ext cx="708671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Добавление доходов и расходов, редактирование записей, переводы между счетами, фильтрация по категориям и датам, поиск по описанию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28015" y="3210282"/>
            <a:ext cx="8060769" cy="1184910"/>
          </a:xfrm>
          <a:prstGeom prst="roundRect">
            <a:avLst>
              <a:gd name="adj" fmla="val 5485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50875" y="3233142"/>
            <a:ext cx="619006" cy="1139190"/>
          </a:xfrm>
          <a:prstGeom prst="roundRect">
            <a:avLst>
              <a:gd name="adj" fmla="val 6068"/>
            </a:avLst>
          </a:prstGeom>
          <a:solidFill>
            <a:srgbClr val="FCE2CF"/>
          </a:solidFill>
          <a:ln/>
        </p:spPr>
      </p:sp>
      <p:sp>
        <p:nvSpPr>
          <p:cNvPr id="11" name="Text 8"/>
          <p:cNvSpPr/>
          <p:nvPr/>
        </p:nvSpPr>
        <p:spPr>
          <a:xfrm>
            <a:off x="6240542" y="3657600"/>
            <a:ext cx="23205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24543" y="3387804"/>
            <a:ext cx="199917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Управление счетами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24543" y="3722370"/>
            <a:ext cx="708671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банковских счетов и кошельков, отслеживание текущих балансов, настройка валют, визуальная идентификация через цвета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28015" y="4549854"/>
            <a:ext cx="8060769" cy="1184910"/>
          </a:xfrm>
          <a:prstGeom prst="roundRect">
            <a:avLst>
              <a:gd name="adj" fmla="val 5485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50875" y="4572714"/>
            <a:ext cx="619006" cy="1139190"/>
          </a:xfrm>
          <a:prstGeom prst="roundRect">
            <a:avLst>
              <a:gd name="adj" fmla="val 6068"/>
            </a:avLst>
          </a:prstGeom>
          <a:solidFill>
            <a:srgbClr val="FCE2CF"/>
          </a:solidFill>
          <a:ln/>
        </p:spPr>
      </p:sp>
      <p:sp>
        <p:nvSpPr>
          <p:cNvPr id="16" name="Text 13"/>
          <p:cNvSpPr/>
          <p:nvPr/>
        </p:nvSpPr>
        <p:spPr>
          <a:xfrm>
            <a:off x="6240542" y="4997172"/>
            <a:ext cx="23205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24543" y="4727377"/>
            <a:ext cx="233636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Планирование бюджета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24543" y="5061942"/>
            <a:ext cx="708671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бюджетов по категориям, установка лимитов расходов, контроль выполнения планов, уведомления о превышении лимитов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28015" y="5889427"/>
            <a:ext cx="8060769" cy="1184910"/>
          </a:xfrm>
          <a:prstGeom prst="roundRect">
            <a:avLst>
              <a:gd name="adj" fmla="val 5485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50875" y="5912287"/>
            <a:ext cx="619006" cy="1139190"/>
          </a:xfrm>
          <a:prstGeom prst="roundRect">
            <a:avLst>
              <a:gd name="adj" fmla="val 6068"/>
            </a:avLst>
          </a:prstGeom>
          <a:solidFill>
            <a:srgbClr val="FCE2CF"/>
          </a:solidFill>
          <a:ln/>
        </p:spPr>
      </p:sp>
      <p:sp>
        <p:nvSpPr>
          <p:cNvPr id="21" name="Text 18"/>
          <p:cNvSpPr/>
          <p:nvPr/>
        </p:nvSpPr>
        <p:spPr>
          <a:xfrm>
            <a:off x="6240542" y="6336744"/>
            <a:ext cx="23205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824543" y="6066949"/>
            <a:ext cx="223813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Аналитические отчёты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24543" y="6401514"/>
            <a:ext cx="708671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Визуализация финансовых данных, анализ по периодам, категориям и счетам, экспорт данных для внешней обработки</a:t>
            </a:r>
            <a:endParaRPr lang="en-US" sz="120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88AA0BF-E7E3-461F-A0FF-0A44BCEBDAF8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5704" y="477322"/>
            <a:ext cx="4339471" cy="542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Структура данных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5704" y="1366838"/>
            <a:ext cx="5402699" cy="3105983"/>
          </a:xfrm>
          <a:prstGeom prst="roundRect">
            <a:avLst>
              <a:gd name="adj" fmla="val 234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6798" y="1547932"/>
            <a:ext cx="520660" cy="520660"/>
          </a:xfrm>
          <a:prstGeom prst="roundRect">
            <a:avLst>
              <a:gd name="adj" fmla="val 17560569"/>
            </a:avLst>
          </a:prstGeom>
          <a:solidFill>
            <a:srgbClr val="D26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9912" y="1691045"/>
            <a:ext cx="234315" cy="2343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06798" y="2242066"/>
            <a:ext cx="2169676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Transaction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006798" y="2617232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Транзакция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006798" y="2998946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Тип (доход/расход)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006798" y="3337322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Сумма и категория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006798" y="3675698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Счёт и описание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006798" y="4014073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Дата и статус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401877" y="1366838"/>
            <a:ext cx="5402699" cy="3105983"/>
          </a:xfrm>
          <a:prstGeom prst="roundRect">
            <a:avLst>
              <a:gd name="adj" fmla="val 234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2972" y="1547932"/>
            <a:ext cx="520660" cy="520660"/>
          </a:xfrm>
          <a:prstGeom prst="roundRect">
            <a:avLst>
              <a:gd name="adj" fmla="val 17560569"/>
            </a:avLst>
          </a:prstGeom>
          <a:solidFill>
            <a:srgbClr val="D2600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6085" y="1691045"/>
            <a:ext cx="234315" cy="2343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2972" y="2242066"/>
            <a:ext cx="2169676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Account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582972" y="2617232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Счёт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582972" y="2998946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Название и тип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582972" y="3337322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Баланс и валюта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582972" y="3675698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Цвет для визуализации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7582972" y="4014073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Статус активности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1825704" y="4646295"/>
            <a:ext cx="5402699" cy="3105983"/>
          </a:xfrm>
          <a:prstGeom prst="roundRect">
            <a:avLst>
              <a:gd name="adj" fmla="val 234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006798" y="4827389"/>
            <a:ext cx="520660" cy="520660"/>
          </a:xfrm>
          <a:prstGeom prst="roundRect">
            <a:avLst>
              <a:gd name="adj" fmla="val 17560569"/>
            </a:avLst>
          </a:prstGeom>
          <a:solidFill>
            <a:srgbClr val="D2600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49912" y="4970502"/>
            <a:ext cx="234315" cy="23431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06798" y="5521523"/>
            <a:ext cx="2169676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Budget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2006798" y="5896689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Бюджет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2006798" y="6278404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Категория расходов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2006798" y="6616779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Установленный лимит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2006798" y="6955155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Потраченная сумма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2006798" y="7293531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Период планирования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7401877" y="4646295"/>
            <a:ext cx="5402699" cy="3105983"/>
          </a:xfrm>
          <a:prstGeom prst="roundRect">
            <a:avLst>
              <a:gd name="adj" fmla="val 234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582972" y="4827389"/>
            <a:ext cx="520660" cy="520660"/>
          </a:xfrm>
          <a:prstGeom prst="roundRect">
            <a:avLst>
              <a:gd name="adj" fmla="val 17560569"/>
            </a:avLst>
          </a:prstGeom>
          <a:solidFill>
            <a:srgbClr val="D2600F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6085" y="4970502"/>
            <a:ext cx="234315" cy="23431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82972" y="5521523"/>
            <a:ext cx="2169676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Category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7582972" y="5896689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Категория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7582972" y="6278404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Название и тип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582972" y="6616779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Цвет и иконка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7582972" y="6955155"/>
            <a:ext cx="5040511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Статус использования</a:t>
            </a:r>
            <a:endParaRPr lang="en-US" sz="1350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08F280B-558D-40E7-B3A4-3D3F7ADB95ED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3952" y="454581"/>
            <a:ext cx="677358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Ключевые технические решения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52" y="1403628"/>
            <a:ext cx="3176111" cy="31761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93952" y="4765358"/>
            <a:ext cx="2063710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SPA без роутера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93952" y="5188268"/>
            <a:ext cx="3176111" cy="105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Быстрая навигация между разделами без перезагрузки страницы за счёт собственной системы навигации на MobX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353" y="1403628"/>
            <a:ext cx="3176111" cy="31761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80353" y="4765358"/>
            <a:ext cx="2636639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Реалтайм синхронизация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680353" y="5188268"/>
            <a:ext cx="3176111" cy="105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Realtime Database обеспечивает мгновенное обновление данных на всех устройствах пользователя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753" y="1403628"/>
            <a:ext cx="3284577" cy="32845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66753" y="4873823"/>
            <a:ext cx="2063710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Строгая типизация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266753" y="5296733"/>
            <a:ext cx="3284577" cy="79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TypeScript гарантирует надёжность кода и упрощает поддержку крупномасштабного приложения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2093952" y="6661625"/>
            <a:ext cx="10442377" cy="28218"/>
          </a:xfrm>
          <a:prstGeom prst="rect">
            <a:avLst/>
          </a:prstGeom>
          <a:solidFill>
            <a:srgbClr val="2B2E3C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2341483" y="7061002"/>
            <a:ext cx="10194846" cy="52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Использование современного стека технологий обеспечивает высокую производительность, удобство разработки и масштабируемость решения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2093952" y="6875383"/>
            <a:ext cx="22860" cy="899636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8463DA4-3B07-4E94-977E-6C6D1D0D56D7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493" y="873204"/>
            <a:ext cx="5732502" cy="62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Результаты разработки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4493" y="1904643"/>
            <a:ext cx="2410539" cy="66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04493" y="2820353"/>
            <a:ext cx="2410539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роли доступа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4493" y="3255526"/>
            <a:ext cx="2410539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Гибкая система прав для разных типов пользователей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366611" y="1904643"/>
            <a:ext cx="2410658" cy="66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366611" y="2820353"/>
            <a:ext cx="2410658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MobX хранилища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366611" y="3255526"/>
            <a:ext cx="2410658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Централизованное управление состоянием приложения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028849" y="1904643"/>
            <a:ext cx="2410539" cy="66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028849" y="2820353"/>
            <a:ext cx="2410539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основных страниц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028849" y="3255526"/>
            <a:ext cx="2410539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Главная, транзакции, счета, бюджеты, администрирование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366611" y="4724876"/>
            <a:ext cx="2410658" cy="664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100%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3366611" y="5640586"/>
            <a:ext cx="2410658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типизированный код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3366611" y="6390203"/>
            <a:ext cx="2410658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Полное покрытие TypeScript для надёжности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6589" y="441603"/>
            <a:ext cx="6620113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Выводы и перспективы развития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2236589" y="1344811"/>
            <a:ext cx="2945368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Достигнутые результаты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2236589" y="1806297"/>
            <a:ext cx="5410200" cy="513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Разработано полнофункциональное веб-приложение для учёта финансов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236589" y="2376368"/>
            <a:ext cx="54102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Реализована гибкая система ролей и прав доступа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36589" y="2689503"/>
            <a:ext cx="54102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 интуитивный пользовательский интерфейс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36589" y="3002637"/>
            <a:ext cx="54102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Внедрена аналитика с визуализацией данных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36589" y="3420070"/>
            <a:ext cx="27772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Направления развития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2236589" y="3881557"/>
            <a:ext cx="54102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Мобильное приложение на React Native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36589" y="4194691"/>
            <a:ext cx="54102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Интеграция с банковскими API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36589" y="4507825"/>
            <a:ext cx="54102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Машинное обучение для прогнозирования расходов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36589" y="4820960"/>
            <a:ext cx="541020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Многопользовательские семейные бюджеты</a:t>
            </a:r>
            <a:endParaRPr lang="en-US" sz="12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125" y="1364933"/>
            <a:ext cx="4355306" cy="435530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046125" y="5900857"/>
            <a:ext cx="4355306" cy="1709976"/>
          </a:xfrm>
          <a:prstGeom prst="roundRect">
            <a:avLst>
              <a:gd name="adj" fmla="val 3944"/>
            </a:avLst>
          </a:prstGeom>
          <a:solidFill>
            <a:srgbClr val="FAD3B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621" y="6151483"/>
            <a:ext cx="200620" cy="1604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67738" y="6101477"/>
            <a:ext cx="3673197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Практическая значимость: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Проект демонстрирует современные подходы к разработке финансовых приложений и может быть использован как основа для коммерческого продукта</a:t>
            </a:r>
            <a:endParaRPr lang="en-US" sz="12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B14C845-0A88-4965-A03C-2292D57C75B8}"/>
              </a:ext>
            </a:extLst>
          </p:cNvPr>
          <p:cNvSpPr/>
          <p:nvPr/>
        </p:nvSpPr>
        <p:spPr>
          <a:xfrm>
            <a:off x="12812684" y="7791796"/>
            <a:ext cx="1712421" cy="349135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Произвольный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Calibri</vt:lpstr>
      <vt:lpstr>Bitter Light</vt:lpstr>
      <vt:lpstr>Bitter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3</cp:revision>
  <dcterms:created xsi:type="dcterms:W3CDTF">2026-01-06T21:24:17Z</dcterms:created>
  <dcterms:modified xsi:type="dcterms:W3CDTF">2026-01-17T18:53:34Z</dcterms:modified>
</cp:coreProperties>
</file>